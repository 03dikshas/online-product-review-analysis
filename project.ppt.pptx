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78" r:id="rId2"/>
    <p:sldId id="256" r:id="rId3"/>
    <p:sldId id="270" r:id="rId4"/>
    <p:sldId id="257" r:id="rId5"/>
    <p:sldId id="264" r:id="rId6"/>
    <p:sldId id="259" r:id="rId7"/>
    <p:sldId id="266" r:id="rId8"/>
    <p:sldId id="258" r:id="rId9"/>
    <p:sldId id="265" r:id="rId10"/>
    <p:sldId id="267" r:id="rId11"/>
    <p:sldId id="261" r:id="rId12"/>
    <p:sldId id="271" r:id="rId13"/>
    <p:sldId id="275" r:id="rId14"/>
    <p:sldId id="272" r:id="rId15"/>
    <p:sldId id="273" r:id="rId16"/>
    <p:sldId id="274" r:id="rId17"/>
    <p:sldId id="262" r:id="rId18"/>
    <p:sldId id="277" r:id="rId19"/>
    <p:sldId id="26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kshavs03@outlook.com" userId="7cec73052c549345" providerId="LiveId" clId="{195B3E72-BC64-41C7-89C0-479E62C0866F}"/>
    <pc:docChg chg="delSld modSld">
      <pc:chgData name="dikshavs03@outlook.com" userId="7cec73052c549345" providerId="LiveId" clId="{195B3E72-BC64-41C7-89C0-479E62C0866F}" dt="2026-01-29T04:15:38.938" v="8" actId="20577"/>
      <pc:docMkLst>
        <pc:docMk/>
      </pc:docMkLst>
      <pc:sldChg chg="modSp mod">
        <pc:chgData name="dikshavs03@outlook.com" userId="7cec73052c549345" providerId="LiveId" clId="{195B3E72-BC64-41C7-89C0-479E62C0866F}" dt="2026-01-29T04:06:58.855" v="0" actId="14100"/>
        <pc:sldMkLst>
          <pc:docMk/>
          <pc:sldMk cId="357498076" sldId="256"/>
        </pc:sldMkLst>
        <pc:spChg chg="mod">
          <ac:chgData name="dikshavs03@outlook.com" userId="7cec73052c549345" providerId="LiveId" clId="{195B3E72-BC64-41C7-89C0-479E62C0866F}" dt="2026-01-29T04:06:58.855" v="0" actId="14100"/>
          <ac:spMkLst>
            <pc:docMk/>
            <pc:sldMk cId="357498076" sldId="256"/>
            <ac:spMk id="3" creationId="{6465ECA5-37F9-6851-C97E-09B6BF466435}"/>
          </ac:spMkLst>
        </pc:spChg>
      </pc:sldChg>
      <pc:sldChg chg="modSp mod">
        <pc:chgData name="dikshavs03@outlook.com" userId="7cec73052c549345" providerId="LiveId" clId="{195B3E72-BC64-41C7-89C0-479E62C0866F}" dt="2026-01-29T04:13:07.220" v="3" actId="14100"/>
        <pc:sldMkLst>
          <pc:docMk/>
          <pc:sldMk cId="3279995995" sldId="258"/>
        </pc:sldMkLst>
        <pc:spChg chg="mod">
          <ac:chgData name="dikshavs03@outlook.com" userId="7cec73052c549345" providerId="LiveId" clId="{195B3E72-BC64-41C7-89C0-479E62C0866F}" dt="2026-01-29T04:13:07.220" v="3" actId="14100"/>
          <ac:spMkLst>
            <pc:docMk/>
            <pc:sldMk cId="3279995995" sldId="258"/>
            <ac:spMk id="2" creationId="{00000000-0000-0000-0000-000000000000}"/>
          </ac:spMkLst>
        </pc:spChg>
      </pc:sldChg>
      <pc:sldChg chg="modSp mod">
        <pc:chgData name="dikshavs03@outlook.com" userId="7cec73052c549345" providerId="LiveId" clId="{195B3E72-BC64-41C7-89C0-479E62C0866F}" dt="2026-01-29T04:12:54.828" v="2" actId="14100"/>
        <pc:sldMkLst>
          <pc:docMk/>
          <pc:sldMk cId="3189567256" sldId="259"/>
        </pc:sldMkLst>
        <pc:spChg chg="mod">
          <ac:chgData name="dikshavs03@outlook.com" userId="7cec73052c549345" providerId="LiveId" clId="{195B3E72-BC64-41C7-89C0-479E62C0866F}" dt="2026-01-29T04:12:54.828" v="2" actId="14100"/>
          <ac:spMkLst>
            <pc:docMk/>
            <pc:sldMk cId="3189567256" sldId="259"/>
            <ac:spMk id="2" creationId="{00000000-0000-0000-0000-000000000000}"/>
          </ac:spMkLst>
        </pc:spChg>
      </pc:sldChg>
      <pc:sldChg chg="del">
        <pc:chgData name="dikshavs03@outlook.com" userId="7cec73052c549345" providerId="LiveId" clId="{195B3E72-BC64-41C7-89C0-479E62C0866F}" dt="2026-01-29T04:08:07.002" v="1" actId="47"/>
        <pc:sldMkLst>
          <pc:docMk/>
          <pc:sldMk cId="3926873822" sldId="260"/>
        </pc:sldMkLst>
      </pc:sldChg>
      <pc:sldChg chg="modSp mod">
        <pc:chgData name="dikshavs03@outlook.com" userId="7cec73052c549345" providerId="LiveId" clId="{195B3E72-BC64-41C7-89C0-479E62C0866F}" dt="2026-01-29T04:15:38.938" v="8" actId="20577"/>
        <pc:sldMkLst>
          <pc:docMk/>
          <pc:sldMk cId="728747767" sldId="261"/>
        </pc:sldMkLst>
        <pc:spChg chg="mod">
          <ac:chgData name="dikshavs03@outlook.com" userId="7cec73052c549345" providerId="LiveId" clId="{195B3E72-BC64-41C7-89C0-479E62C0866F}" dt="2026-01-29T04:15:38.938" v="8" actId="20577"/>
          <ac:spMkLst>
            <pc:docMk/>
            <pc:sldMk cId="728747767" sldId="261"/>
            <ac:spMk id="2" creationId="{00000000-0000-0000-0000-000000000000}"/>
          </ac:spMkLst>
        </pc:spChg>
      </pc:sldChg>
      <pc:sldChg chg="modSp mod">
        <pc:chgData name="dikshavs03@outlook.com" userId="7cec73052c549345" providerId="LiveId" clId="{195B3E72-BC64-41C7-89C0-479E62C0866F}" dt="2026-01-29T04:13:26.823" v="6" actId="1076"/>
        <pc:sldMkLst>
          <pc:docMk/>
          <pc:sldMk cId="1126171190" sldId="267"/>
        </pc:sldMkLst>
        <pc:spChg chg="mod">
          <ac:chgData name="dikshavs03@outlook.com" userId="7cec73052c549345" providerId="LiveId" clId="{195B3E72-BC64-41C7-89C0-479E62C0866F}" dt="2026-01-29T04:13:26.823" v="6" actId="1076"/>
          <ac:spMkLst>
            <pc:docMk/>
            <pc:sldMk cId="1126171190" sldId="267"/>
            <ac:spMk id="4" creationId="{00000000-0000-0000-0000-000000000000}"/>
          </ac:spMkLst>
        </pc:spChg>
      </pc:sldChg>
      <pc:sldChg chg="del">
        <pc:chgData name="dikshavs03@outlook.com" userId="7cec73052c549345" providerId="LiveId" clId="{195B3E72-BC64-41C7-89C0-479E62C0866F}" dt="2026-01-29T04:15:33.331" v="7" actId="47"/>
        <pc:sldMkLst>
          <pc:docMk/>
          <pc:sldMk cId="4047804792"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61EE9-B34A-9C43-89CE-FB1CDDFC385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C55AA53E-CD7E-0C7F-2A2F-69B884D55A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4FB7DB-70A1-E201-FF06-85272B21A57B}"/>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5" name="Footer Placeholder 4">
            <a:extLst>
              <a:ext uri="{FF2B5EF4-FFF2-40B4-BE49-F238E27FC236}">
                <a16:creationId xmlns:a16="http://schemas.microsoft.com/office/drawing/2014/main" id="{18C88D81-D5E9-E7B8-A76B-DC4EE8C4F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97D927-6A4B-24AD-5BE2-DCA177D71A27}"/>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3169613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96491-CCB8-0D11-2AD4-169C8BE0BE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1DAB6B-33BD-7500-C487-B459697AFD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92A4CC-B814-FC5B-98A1-5E3AEEF36194}"/>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5" name="Footer Placeholder 4">
            <a:extLst>
              <a:ext uri="{FF2B5EF4-FFF2-40B4-BE49-F238E27FC236}">
                <a16:creationId xmlns:a16="http://schemas.microsoft.com/office/drawing/2014/main" id="{0810046F-51D4-6BA0-0E71-B39A0B1C6D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4D5DA-47DC-E8D9-EDDC-363D123DF785}"/>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4020272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206EA-C53F-73A4-6B89-AE9E79D985E4}"/>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9628D6-CFAB-2E27-2934-E25AF67394F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6D6E72-A02A-E626-AA86-3DC32EDD2A74}"/>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5" name="Footer Placeholder 4">
            <a:extLst>
              <a:ext uri="{FF2B5EF4-FFF2-40B4-BE49-F238E27FC236}">
                <a16:creationId xmlns:a16="http://schemas.microsoft.com/office/drawing/2014/main" id="{C4AFD2BC-3B82-8185-5DF8-F152EB3E1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F8D84-FAB4-FBB9-7C56-D1600AD12106}"/>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1984985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4AE2D-19AD-1DAB-5A42-E63CA9B2EC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C790EC-3F53-9F12-8AF6-46353872E4D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674D08-1AFB-44AA-0149-7486BA5E760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C9A4B8-DAC8-BD8F-59E6-1D4FC58419AD}"/>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6" name="Footer Placeholder 5">
            <a:extLst>
              <a:ext uri="{FF2B5EF4-FFF2-40B4-BE49-F238E27FC236}">
                <a16:creationId xmlns:a16="http://schemas.microsoft.com/office/drawing/2014/main" id="{306094C7-F44A-95C4-44B9-CA1EACCD09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ACA68A-4BF7-B27C-B440-84B7DF221294}"/>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1294017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39A2A-01AB-925E-1AF2-2C3D0F1BCE78}"/>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3C3973-3F91-E901-A73E-80FE4A2CD6E6}"/>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A3B34-09C3-4A08-E56D-6E8BA135904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6860E2-33AA-6E0B-9519-EAFD556DD7F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A2D7E23-330A-A0A3-8A3D-CDC973307E1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77D5F9-B9D4-6658-2CDD-0A1F8009C1E3}"/>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8" name="Footer Placeholder 7">
            <a:extLst>
              <a:ext uri="{FF2B5EF4-FFF2-40B4-BE49-F238E27FC236}">
                <a16:creationId xmlns:a16="http://schemas.microsoft.com/office/drawing/2014/main" id="{674CA463-629B-926D-06C9-3B90199528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A7C49B-E92B-9DA2-557C-ECB4CE287550}"/>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562935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E46-DD85-D40F-67F0-A0F25111BF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33B835-47DF-B297-ACD3-B63F7D9A743A}"/>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4" name="Footer Placeholder 3">
            <a:extLst>
              <a:ext uri="{FF2B5EF4-FFF2-40B4-BE49-F238E27FC236}">
                <a16:creationId xmlns:a16="http://schemas.microsoft.com/office/drawing/2014/main" id="{8F5AFFE5-329A-0D4E-C12C-B9AD7CBA05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533037-5D42-B907-B911-774B4824C45A}"/>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154943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FE3622-7DB6-AEE5-6484-8C7A0AAA1F76}"/>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3" name="Footer Placeholder 2">
            <a:extLst>
              <a:ext uri="{FF2B5EF4-FFF2-40B4-BE49-F238E27FC236}">
                <a16:creationId xmlns:a16="http://schemas.microsoft.com/office/drawing/2014/main" id="{51DA274F-1179-111C-01CB-F0CBB69577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A4CB71-1CF2-9EEB-6AF3-47D83C3E8B70}"/>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2475349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0AFC-0656-BB22-BA80-65D65158CD1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3048595-6627-112D-E910-4A36FFD4779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07F9A9-4376-3EFD-1CE7-4FCA6E4EA24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D2A96E7-D42E-A0C0-9189-F0B82C852D1A}"/>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6" name="Footer Placeholder 5">
            <a:extLst>
              <a:ext uri="{FF2B5EF4-FFF2-40B4-BE49-F238E27FC236}">
                <a16:creationId xmlns:a16="http://schemas.microsoft.com/office/drawing/2014/main" id="{D5841A58-AA51-7A6E-EED9-A3E0933B23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004E5B-6408-A970-119A-962766D90EAD}"/>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2617081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F164-A850-13BD-2A50-4D8FEBF4008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93979B-EA29-096A-8421-883E78621B5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8B8FFC4B-61C3-721B-8821-FAC6A5D8340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9AE8B1E-0B9C-C1D3-BE45-6F5481D61ADF}"/>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6" name="Footer Placeholder 5">
            <a:extLst>
              <a:ext uri="{FF2B5EF4-FFF2-40B4-BE49-F238E27FC236}">
                <a16:creationId xmlns:a16="http://schemas.microsoft.com/office/drawing/2014/main" id="{34CF43AD-A23C-05B6-D71D-624F1FCB26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3E339D-2785-04F4-0636-546B2E3CB054}"/>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247010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0D17A-43E1-2B4E-3877-4E037EE9BD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C7E6FE-C00B-34E9-4AA0-C4DE1091FA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451BAE-8BC2-2AD3-42A6-B56179BB3977}"/>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5" name="Footer Placeholder 4">
            <a:extLst>
              <a:ext uri="{FF2B5EF4-FFF2-40B4-BE49-F238E27FC236}">
                <a16:creationId xmlns:a16="http://schemas.microsoft.com/office/drawing/2014/main" id="{18F63316-0ECD-39DD-B6C8-EADEBCD4C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7D429-1663-53CB-3A73-ABF811FEA710}"/>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4022652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D36159-D110-2412-7BD5-75755F1AC4C7}"/>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D89F34-94D8-CD3D-CEFB-E5129EB186D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5B9E16-F131-FAFF-8DE6-581EEAAA7FA1}"/>
              </a:ext>
            </a:extLst>
          </p:cNvPr>
          <p:cNvSpPr>
            <a:spLocks noGrp="1"/>
          </p:cNvSpPr>
          <p:nvPr>
            <p:ph type="dt" sz="half" idx="10"/>
          </p:nvPr>
        </p:nvSpPr>
        <p:spPr/>
        <p:txBody>
          <a:bodyPr/>
          <a:lstStyle/>
          <a:p>
            <a:fld id="{24AC6222-9BE9-4E66-A61A-419D480FADED}" type="datetimeFigureOut">
              <a:rPr lang="en-US" smtClean="0"/>
              <a:t>1/29/2026</a:t>
            </a:fld>
            <a:endParaRPr lang="en-US"/>
          </a:p>
        </p:txBody>
      </p:sp>
      <p:sp>
        <p:nvSpPr>
          <p:cNvPr id="5" name="Footer Placeholder 4">
            <a:extLst>
              <a:ext uri="{FF2B5EF4-FFF2-40B4-BE49-F238E27FC236}">
                <a16:creationId xmlns:a16="http://schemas.microsoft.com/office/drawing/2014/main" id="{BE5C26E4-43C9-3E80-BA4F-53308A17D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B98689-4FCE-4F43-3E5C-790C70C4B479}"/>
              </a:ext>
            </a:extLst>
          </p:cNvPr>
          <p:cNvSpPr>
            <a:spLocks noGrp="1"/>
          </p:cNvSpPr>
          <p:nvPr>
            <p:ph type="sldNum" sz="quarter" idx="12"/>
          </p:nvPr>
        </p:nvSpPr>
        <p:spPr/>
        <p:txBody>
          <a:bodyPr/>
          <a:lstStyle/>
          <a:p>
            <a:fld id="{E9248C25-3210-4B0E-B552-473565D905D2}" type="slidenum">
              <a:rPr lang="en-US" smtClean="0"/>
              <a:t>‹#›</a:t>
            </a:fld>
            <a:endParaRPr lang="en-US"/>
          </a:p>
        </p:txBody>
      </p:sp>
    </p:spTree>
    <p:extLst>
      <p:ext uri="{BB962C8B-B14F-4D97-AF65-F5344CB8AC3E}">
        <p14:creationId xmlns:p14="http://schemas.microsoft.com/office/powerpoint/2010/main" val="125729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B2AA6E-DD90-005C-CC61-B17F33CF060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E2E661-E7F1-93B8-6C06-AA199F85D5A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3B4328-5468-3C81-98FB-30C3DF03C3E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AC6222-9BE9-4E66-A61A-419D480FADED}" type="datetimeFigureOut">
              <a:rPr lang="en-US" smtClean="0"/>
              <a:t>1/29/2026</a:t>
            </a:fld>
            <a:endParaRPr lang="en-US"/>
          </a:p>
        </p:txBody>
      </p:sp>
      <p:sp>
        <p:nvSpPr>
          <p:cNvPr id="5" name="Footer Placeholder 4">
            <a:extLst>
              <a:ext uri="{FF2B5EF4-FFF2-40B4-BE49-F238E27FC236}">
                <a16:creationId xmlns:a16="http://schemas.microsoft.com/office/drawing/2014/main" id="{B9C3D0B2-A75D-7B03-FA3B-8D3134C2347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0994FB-3B56-2EF8-1AF5-6A32E65924D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248C25-3210-4B0E-B552-473565D905D2}" type="slidenum">
              <a:rPr lang="en-US" smtClean="0"/>
              <a:t>‹#›</a:t>
            </a:fld>
            <a:endParaRPr lang="en-US"/>
          </a:p>
        </p:txBody>
      </p:sp>
    </p:spTree>
    <p:extLst>
      <p:ext uri="{BB962C8B-B14F-4D97-AF65-F5344CB8AC3E}">
        <p14:creationId xmlns:p14="http://schemas.microsoft.com/office/powerpoint/2010/main" val="57822904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7F4029-E95C-6C74-C32D-2503FA89AF2E}"/>
              </a:ext>
            </a:extLst>
          </p:cNvPr>
          <p:cNvSpPr>
            <a:spLocks noGrp="1"/>
          </p:cNvSpPr>
          <p:nvPr>
            <p:ph idx="1"/>
          </p:nvPr>
        </p:nvSpPr>
        <p:spPr>
          <a:xfrm>
            <a:off x="628650" y="2514599"/>
            <a:ext cx="7886700" cy="3662363"/>
          </a:xfrm>
        </p:spPr>
        <p:txBody>
          <a:bodyPr>
            <a:normAutofit/>
          </a:bodyPr>
          <a:lstStyle/>
          <a:p>
            <a:pPr marL="0" indent="0" algn="ctr">
              <a:buNone/>
            </a:pPr>
            <a:r>
              <a:rPr lang="en-US" sz="4400" dirty="0">
                <a:latin typeface="Times New Roman" panose="02020603050405020304" pitchFamily="18" charset="0"/>
                <a:cs typeface="Times New Roman" panose="02020603050405020304" pitchFamily="18" charset="0"/>
              </a:rPr>
              <a:t>ONLINE PRODUCT REVIEW ANALYSIS</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3031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60EA5-DD24-537E-C97F-25CD6EFD6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9CAC3F-D0CF-56EF-2ABA-AFE763075719}"/>
              </a:ext>
            </a:extLst>
          </p:cNvPr>
          <p:cNvSpPr>
            <a:spLocks noGrp="1"/>
          </p:cNvSpPr>
          <p:nvPr>
            <p:ph type="ctrTitle"/>
          </p:nvPr>
        </p:nvSpPr>
        <p:spPr>
          <a:xfrm>
            <a:off x="152400" y="76200"/>
            <a:ext cx="7772400" cy="1219199"/>
          </a:xfrm>
        </p:spPr>
        <p:txBody>
          <a:bodyPr>
            <a:noAutofit/>
          </a:bodyPr>
          <a:lstStyle/>
          <a:p>
            <a:pPr algn="ctr"/>
            <a:r>
              <a:rPr lang="en-US" sz="3600" b="1" dirty="0">
                <a:latin typeface="Times New Roman" panose="02020603050405020304" pitchFamily="18" charset="0"/>
                <a:cs typeface="Times New Roman" panose="02020603050405020304" pitchFamily="18" charset="0"/>
              </a:rPr>
              <a:t>ONLINE PRODUCT REVIEW ANALYSIS</a:t>
            </a:r>
          </a:p>
        </p:txBody>
      </p:sp>
      <p:sp>
        <p:nvSpPr>
          <p:cNvPr id="3" name="Subtitle 2">
            <a:extLst>
              <a:ext uri="{FF2B5EF4-FFF2-40B4-BE49-F238E27FC236}">
                <a16:creationId xmlns:a16="http://schemas.microsoft.com/office/drawing/2014/main" id="{6465ECA5-37F9-6851-C97E-09B6BF466435}"/>
              </a:ext>
            </a:extLst>
          </p:cNvPr>
          <p:cNvSpPr>
            <a:spLocks noGrp="1"/>
          </p:cNvSpPr>
          <p:nvPr>
            <p:ph type="subTitle" idx="1"/>
          </p:nvPr>
        </p:nvSpPr>
        <p:spPr>
          <a:xfrm>
            <a:off x="304800" y="1600200"/>
            <a:ext cx="8610600" cy="5334000"/>
          </a:xfrm>
        </p:spPr>
        <p:txBody>
          <a:bodyPr>
            <a:normAutofit/>
          </a:bodyPr>
          <a:lstStyle/>
          <a:p>
            <a:r>
              <a:rPr lang="en-US" sz="2000" dirty="0">
                <a:latin typeface="Times New Roman" panose="02020603050405020304" pitchFamily="18" charset="0"/>
                <a:cs typeface="Times New Roman" panose="02020603050405020304" pitchFamily="18" charset="0"/>
              </a:rPr>
              <a:t>Online Product Review Analysis is an important application of Data Analytics and Natural Language Processing (NLP) that focuses on studying customer opinions shared on online platforms such as e-commerce websites, social media, and review forums. These reviews reflect customers’ experiences, satisfaction levels, and expectations regarding products or services.</a:t>
            </a:r>
          </a:p>
          <a:p>
            <a:r>
              <a:rPr lang="en-US" sz="2000" dirty="0">
                <a:latin typeface="Times New Roman" panose="02020603050405020304" pitchFamily="18" charset="0"/>
                <a:cs typeface="Times New Roman" panose="02020603050405020304" pitchFamily="18" charset="0"/>
              </a:rPr>
              <a:t>With the rapid growth of online shopping, a huge volume of customer feedback is generated every day. This data is mostly unstructured text, making it difficult to analyze using traditional methods. Online product review analysis helps convert this raw textual data into meaningful insights by using techniques such as sentiment analysis, text mining, and machine learning.</a:t>
            </a:r>
          </a:p>
          <a:p>
            <a:endParaRPr lang="en-US" dirty="0"/>
          </a:p>
        </p:txBody>
      </p:sp>
    </p:spTree>
    <p:extLst>
      <p:ext uri="{BB962C8B-B14F-4D97-AF65-F5344CB8AC3E}">
        <p14:creationId xmlns:p14="http://schemas.microsoft.com/office/powerpoint/2010/main" val="35749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824E4-59C3-C5EC-1636-87093BA70D8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3ECD6A-4E56-D5C0-490F-8E2604C7182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Online shopping platforms generate a large volume of customer reviews every day. Manually analyzing these reviews is time-consuming and inefficient due to the unstructured nature of textual data. As a result, valuable insights related to customer satisfaction, product quality, and common issues are often overlooked. There is a need for an automated system that can effectively analyze online product reviews using data analytics and sentiment analysis techniques to extract meaningful insights and support better business decision-making.</a:t>
            </a:r>
          </a:p>
          <a:p>
            <a:pPr marL="0" indent="0">
              <a:buNone/>
            </a:pPr>
            <a:endParaRPr lang="en-IN" dirty="0"/>
          </a:p>
        </p:txBody>
      </p:sp>
    </p:spTree>
    <p:extLst>
      <p:ext uri="{BB962C8B-B14F-4D97-AF65-F5344CB8AC3E}">
        <p14:creationId xmlns:p14="http://schemas.microsoft.com/office/powerpoint/2010/main" val="410219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600200" y="533400"/>
            <a:ext cx="4876800" cy="533400"/>
          </a:xfrm>
        </p:spPr>
        <p:txBody>
          <a:bodyPr>
            <a:normAutofit fontScale="90000"/>
          </a:bodyPr>
          <a:lstStyle/>
          <a:p>
            <a:pPr algn="ctr"/>
            <a:r>
              <a:rPr lang="en-US" sz="3600" b="1" dirty="0">
                <a:latin typeface="Times New Roman" panose="02020603050405020304" pitchFamily="18" charset="0"/>
                <a:cs typeface="Times New Roman" panose="02020603050405020304" pitchFamily="18" charset="0"/>
              </a:rPr>
              <a:t>Objectives</a:t>
            </a:r>
          </a:p>
        </p:txBody>
      </p:sp>
      <p:sp>
        <p:nvSpPr>
          <p:cNvPr id="2" name="Subtitle 1"/>
          <p:cNvSpPr>
            <a:spLocks noGrp="1"/>
          </p:cNvSpPr>
          <p:nvPr>
            <p:ph type="subTitle" idx="1"/>
          </p:nvPr>
        </p:nvSpPr>
        <p:spPr>
          <a:xfrm>
            <a:off x="457200" y="1295400"/>
            <a:ext cx="8534400" cy="5257800"/>
          </a:xfrm>
        </p:spPr>
        <p:txBody>
          <a:bodyPr>
            <a:normAutofit/>
          </a:bodyPr>
          <a:lstStyle/>
          <a:p>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Online Product Review Analysis </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collect and analyze online product reviews from e-commerce platforms </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identify customer sentiment as positive, negative, or neutral</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understand customer satisfaction and preferences</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detect common issues and areas for product improvement </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support better business and marketing decision-making</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measure customer satisfaction levels based on review sentiment and ratings.</a:t>
            </a:r>
          </a:p>
          <a:p>
            <a:endParaRPr lang="en-US" sz="2400" dirty="0"/>
          </a:p>
          <a:p>
            <a:endParaRPr lang="en-US" sz="2400" dirty="0"/>
          </a:p>
          <a:p>
            <a:pPr marL="342900" indent="-342900">
              <a:buFont typeface="Arial" pitchFamily="34" charset="0"/>
              <a:buChar char="•"/>
            </a:pPr>
            <a:endParaRPr lang="en-US" sz="2000" dirty="0"/>
          </a:p>
        </p:txBody>
      </p:sp>
    </p:spTree>
    <p:extLst>
      <p:ext uri="{BB962C8B-B14F-4D97-AF65-F5344CB8AC3E}">
        <p14:creationId xmlns:p14="http://schemas.microsoft.com/office/powerpoint/2010/main" val="4077051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subTitle" idx="1"/>
          </p:nvPr>
        </p:nvSpPr>
        <p:spPr>
          <a:xfrm>
            <a:off x="381000" y="762000"/>
            <a:ext cx="6477000" cy="6248400"/>
          </a:xfrm>
        </p:spPr>
        <p:txBody>
          <a:bodyPr>
            <a:normAutofit/>
          </a:bodyPr>
          <a:lstStyle/>
          <a:p>
            <a:pPr marL="285750" indent="-285750">
              <a:buFont typeface="Arial"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l">
              <a:buFont typeface="Arial" pitchFamily="34" charset="0"/>
              <a:buChar char="•"/>
            </a:pPr>
            <a:r>
              <a:rPr lang="en-US" sz="2400" dirty="0">
                <a:latin typeface="Times New Roman" panose="02020603050405020304" pitchFamily="18" charset="0"/>
                <a:cs typeface="Times New Roman" panose="02020603050405020304" pitchFamily="18" charset="0"/>
              </a:rPr>
              <a:t>To analyze large volumes of review data efficiently using machine learning and NLP methods</a:t>
            </a:r>
          </a:p>
          <a:p>
            <a:pPr algn="l"/>
            <a:r>
              <a:rPr lang="en-US" sz="2400" dirty="0">
                <a:latin typeface="Times New Roman" panose="02020603050405020304" pitchFamily="18" charset="0"/>
                <a:cs typeface="Times New Roman" panose="02020603050405020304" pitchFamily="18" charset="0"/>
              </a:rPr>
              <a:t>    To support data-driven decision.</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detect common customer complaints and issues for improving product quality and services.</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improve product recommendations and marketing strategies based on customer opinions</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To compare products or brands based on customer feedback and sentiment trends.</a:t>
            </a:r>
          </a:p>
          <a:p>
            <a:pPr marL="342900" indent="-342900" algn="l">
              <a:buFont typeface="Arial" pitchFamily="34" charset="0"/>
              <a:buChar char="•"/>
            </a:pPr>
            <a:endParaRPr lang="en-US" sz="2000" dirty="0"/>
          </a:p>
          <a:p>
            <a:pPr marL="285750" indent="-285750">
              <a:buFont typeface="Arial" pitchFamily="34" charset="0"/>
              <a:buChar char="•"/>
            </a:pPr>
            <a:endParaRPr lang="en-US" sz="2000" dirty="0"/>
          </a:p>
        </p:txBody>
      </p:sp>
    </p:spTree>
    <p:extLst>
      <p:ext uri="{BB962C8B-B14F-4D97-AF65-F5344CB8AC3E}">
        <p14:creationId xmlns:p14="http://schemas.microsoft.com/office/powerpoint/2010/main" val="2808488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09600" y="533400"/>
            <a:ext cx="6248400" cy="838200"/>
          </a:xfrm>
        </p:spPr>
        <p:txBody>
          <a:bodyPr/>
          <a:lstStyle/>
          <a:p>
            <a:pPr algn="ctr"/>
            <a:r>
              <a:rPr lang="en-US" sz="3600" b="1" dirty="0">
                <a:latin typeface="Times New Roman" panose="02020603050405020304" pitchFamily="18" charset="0"/>
                <a:cs typeface="Times New Roman" panose="02020603050405020304" pitchFamily="18" charset="0"/>
              </a:rPr>
              <a:t>Tools Used</a:t>
            </a:r>
          </a:p>
        </p:txBody>
      </p:sp>
      <p:sp>
        <p:nvSpPr>
          <p:cNvPr id="2" name="Subtitle 1"/>
          <p:cNvSpPr>
            <a:spLocks noGrp="1"/>
          </p:cNvSpPr>
          <p:nvPr>
            <p:ph type="subTitle" idx="1"/>
          </p:nvPr>
        </p:nvSpPr>
        <p:spPr>
          <a:xfrm>
            <a:off x="609600" y="1524000"/>
            <a:ext cx="8458200" cy="5562600"/>
          </a:xfrm>
        </p:spPr>
        <p:txBody>
          <a:bodyPr>
            <a:normAutofit/>
          </a:bodyPr>
          <a:lstStyle/>
          <a:p>
            <a:r>
              <a:rPr lang="en-US" sz="2400" dirty="0">
                <a:latin typeface="Times New Roman" panose="02020603050405020304" pitchFamily="18" charset="0"/>
                <a:cs typeface="Times New Roman" panose="02020603050405020304" pitchFamily="18" charset="0"/>
              </a:rPr>
              <a:t>Online Product Review Analysis Microsoft Excel Used for initial data cleaning, removing duplicates, sorting reviews, and performing basic statistical analysis .Power BI Used to create interactive dashboards and visualizations such as rating distribution, sentiment trends, and customer feedback insights. Python Used for advanced data processing and sentiment analysis. Libraries like Pandas and </a:t>
            </a:r>
            <a:r>
              <a:rPr lang="en-US" sz="2400" dirty="0" err="1">
                <a:latin typeface="Times New Roman" panose="02020603050405020304" pitchFamily="18" charset="0"/>
                <a:cs typeface="Times New Roman" panose="02020603050405020304" pitchFamily="18" charset="0"/>
              </a:rPr>
              <a:t>numpy</a:t>
            </a:r>
            <a:r>
              <a:rPr lang="en-US" sz="2400" dirty="0">
                <a:latin typeface="Times New Roman" panose="02020603050405020304" pitchFamily="18" charset="0"/>
                <a:cs typeface="Times New Roman" panose="02020603050405020304" pitchFamily="18" charset="0"/>
              </a:rPr>
              <a:t> are used for data handling, while </a:t>
            </a:r>
            <a:r>
              <a:rPr lang="en-US" sz="2400" dirty="0" err="1">
                <a:latin typeface="Times New Roman" panose="02020603050405020304" pitchFamily="18" charset="0"/>
                <a:cs typeface="Times New Roman" panose="02020603050405020304" pitchFamily="18" charset="0"/>
              </a:rPr>
              <a:t>textblok</a:t>
            </a:r>
            <a:r>
              <a:rPr lang="en-US" sz="2400" dirty="0">
                <a:latin typeface="Times New Roman" panose="02020603050405020304" pitchFamily="18" charset="0"/>
                <a:cs typeface="Times New Roman" panose="02020603050405020304" pitchFamily="18" charset="0"/>
              </a:rPr>
              <a:t> /NLTK are used for analyzing customer sentiments </a:t>
            </a:r>
          </a:p>
          <a:p>
            <a:endParaRPr lang="en-US" dirty="0"/>
          </a:p>
        </p:txBody>
      </p:sp>
    </p:spTree>
    <p:extLst>
      <p:ext uri="{BB962C8B-B14F-4D97-AF65-F5344CB8AC3E}">
        <p14:creationId xmlns:p14="http://schemas.microsoft.com/office/powerpoint/2010/main" val="318956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685800" y="685800"/>
            <a:ext cx="6461125" cy="4953000"/>
          </a:xfrm>
        </p:spPr>
        <p:txBody>
          <a:bodyPr>
            <a:normAutofit lnSpcReduction="10000"/>
          </a:bodyPr>
          <a:lstStyle/>
          <a:p>
            <a:r>
              <a:rPr lang="en-US" sz="2400" b="1" dirty="0">
                <a:latin typeface="Times New Roman" panose="02020603050405020304" pitchFamily="18" charset="0"/>
                <a:cs typeface="Times New Roman" panose="02020603050405020304" pitchFamily="18" charset="0"/>
              </a:rPr>
              <a:t>Role of Microsoft Excel in the Project</a:t>
            </a:r>
          </a:p>
          <a:p>
            <a:endParaRPr lang="en-US" sz="2400" b="1" dirty="0">
              <a:latin typeface="Times New Roman" panose="02020603050405020304" pitchFamily="18" charset="0"/>
              <a:cs typeface="Times New Roman" panose="02020603050405020304" pitchFamily="18" charset="0"/>
            </a:endParaRP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Used to store and organize review data in tabular form</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Helps in data cleaning (removing duplicates, handling missing values)</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Used for basic data analysis such as sorting and filtering reviews</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Helps in analyzing ratings distribution (1–5 stars)</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Used to create charts and graphs for visualization</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Useful for initial exploration of the dataset</a:t>
            </a:r>
          </a:p>
          <a:p>
            <a:pPr marL="342900" indent="-342900">
              <a:buFont typeface="Arial" pitchFamily="34" charset="0"/>
              <a:buChar char="•"/>
            </a:pPr>
            <a:endParaRPr lang="en-US" sz="2400" dirty="0"/>
          </a:p>
        </p:txBody>
      </p:sp>
    </p:spTree>
    <p:extLst>
      <p:ext uri="{BB962C8B-B14F-4D97-AF65-F5344CB8AC3E}">
        <p14:creationId xmlns:p14="http://schemas.microsoft.com/office/powerpoint/2010/main" val="1135624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143000" y="381000"/>
            <a:ext cx="5486400" cy="914400"/>
          </a:xfrm>
        </p:spPr>
        <p:txBody>
          <a:bodyPr/>
          <a:lstStyle/>
          <a:p>
            <a:pPr algn="ctr"/>
            <a:r>
              <a:rPr lang="en-US" sz="3600" b="1" dirty="0">
                <a:latin typeface="Times New Roman" panose="02020603050405020304" pitchFamily="18" charset="0"/>
                <a:cs typeface="Times New Roman" panose="02020603050405020304" pitchFamily="18" charset="0"/>
              </a:rPr>
              <a:t>Dataset Description </a:t>
            </a:r>
          </a:p>
        </p:txBody>
      </p:sp>
      <p:sp>
        <p:nvSpPr>
          <p:cNvPr id="2" name="Subtitle 1"/>
          <p:cNvSpPr>
            <a:spLocks noGrp="1"/>
          </p:cNvSpPr>
          <p:nvPr>
            <p:ph type="subTitle" idx="1"/>
          </p:nvPr>
        </p:nvSpPr>
        <p:spPr>
          <a:xfrm>
            <a:off x="609600" y="1676400"/>
            <a:ext cx="8382000" cy="4267200"/>
          </a:xfrm>
        </p:spPr>
        <p:txBody>
          <a:bodyPr/>
          <a:lstStyle/>
          <a:p>
            <a:r>
              <a:rPr lang="en-US" dirty="0"/>
              <a:t>  </a:t>
            </a:r>
            <a:r>
              <a:rPr lang="en-US" sz="2400" dirty="0">
                <a:latin typeface="Times New Roman" panose="02020603050405020304" pitchFamily="18" charset="0"/>
                <a:cs typeface="Times New Roman" panose="02020603050405020304" pitchFamily="18" charset="0"/>
              </a:rPr>
              <a:t>Online Product Review Analysis The dataset consists of customer reviews collected from online e-commerce platforms It includes product ratings, review text, and review dates Ratings are provided on a scale of 1 to 5 stars Review text contains customer opinions and feedback about the product The dataset is used to perform sentiment analysis and identify customer satisfaction levels</a:t>
            </a:r>
          </a:p>
        </p:txBody>
      </p:sp>
    </p:spTree>
    <p:extLst>
      <p:ext uri="{BB962C8B-B14F-4D97-AF65-F5344CB8AC3E}">
        <p14:creationId xmlns:p14="http://schemas.microsoft.com/office/powerpoint/2010/main" val="3279995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subTitle" idx="1"/>
          </p:nvPr>
        </p:nvSpPr>
        <p:spPr>
          <a:xfrm>
            <a:off x="304800" y="457200"/>
            <a:ext cx="8686800" cy="5715000"/>
          </a:xfrm>
        </p:spPr>
        <p:txBody>
          <a:bodyPr/>
          <a:lstStyle/>
          <a:p>
            <a:r>
              <a:rPr lang="en-US" sz="2800" b="1" dirty="0">
                <a:latin typeface="Times New Roman" panose="02020603050405020304" pitchFamily="18" charset="0"/>
                <a:cs typeface="Times New Roman" panose="02020603050405020304" pitchFamily="18" charset="0"/>
              </a:rPr>
              <a:t>Nature of the Dataset</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Data type:</a:t>
            </a:r>
            <a:r>
              <a:rPr lang="en-US" dirty="0">
                <a:latin typeface="Times New Roman" panose="02020603050405020304" pitchFamily="18" charset="0"/>
                <a:cs typeface="Times New Roman" panose="02020603050405020304" pitchFamily="18" charset="0"/>
              </a:rPr>
              <a:t> Unstructured (review text) and structured (ratings, dates)</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File format:</a:t>
            </a:r>
            <a:r>
              <a:rPr lang="en-US" dirty="0">
                <a:latin typeface="Times New Roman" panose="02020603050405020304" pitchFamily="18" charset="0"/>
                <a:cs typeface="Times New Roman" panose="02020603050405020304" pitchFamily="18" charset="0"/>
              </a:rPr>
              <a:t> CSV (.</a:t>
            </a:r>
            <a:r>
              <a:rPr lang="en-US" dirty="0" err="1">
                <a:latin typeface="Times New Roman" panose="02020603050405020304" pitchFamily="18" charset="0"/>
                <a:cs typeface="Times New Roman" panose="02020603050405020304" pitchFamily="18" charset="0"/>
              </a:rPr>
              <a:t>csv</a:t>
            </a:r>
            <a:r>
              <a:rPr lang="en-US" dirty="0">
                <a:latin typeface="Times New Roman" panose="02020603050405020304" pitchFamily="18" charset="0"/>
                <a:cs typeface="Times New Roman" panose="02020603050405020304" pitchFamily="18" charset="0"/>
              </a:rPr>
              <a:t>)</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Domain:</a:t>
            </a:r>
            <a:r>
              <a:rPr lang="en-US" dirty="0">
                <a:latin typeface="Times New Roman" panose="02020603050405020304" pitchFamily="18" charset="0"/>
                <a:cs typeface="Times New Roman" panose="02020603050405020304" pitchFamily="18" charset="0"/>
              </a:rPr>
              <a:t> E-commerce</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Language:</a:t>
            </a:r>
            <a:r>
              <a:rPr lang="en-US" dirty="0">
                <a:latin typeface="Times New Roman" panose="02020603050405020304" pitchFamily="18" charset="0"/>
                <a:cs typeface="Times New Roman" panose="02020603050405020304" pitchFamily="18" charset="0"/>
              </a:rPr>
              <a:t> English</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Source:</a:t>
            </a:r>
            <a:r>
              <a:rPr lang="en-US" dirty="0">
                <a:latin typeface="Times New Roman" panose="02020603050405020304" pitchFamily="18" charset="0"/>
                <a:cs typeface="Times New Roman" panose="02020603050405020304" pitchFamily="18" charset="0"/>
              </a:rPr>
              <a:t> Public datasets / e-commerce platforms</a:t>
            </a:r>
          </a:p>
          <a:p>
            <a:pPr marL="342900" indent="-342900" algn="l">
              <a:buFont typeface="Arial" pitchFamily="34" charset="0"/>
              <a:buChar char="•"/>
            </a:pPr>
            <a:endParaRPr lang="en-US" dirty="0">
              <a:latin typeface="Times New Roman" panose="02020603050405020304" pitchFamily="18" charset="0"/>
              <a:cs typeface="Times New Roman" panose="02020603050405020304" pitchFamily="18" charset="0"/>
            </a:endParaRPr>
          </a:p>
          <a:p>
            <a:pPr algn="l"/>
            <a:r>
              <a:rPr lang="en-US" sz="2400" b="1" dirty="0">
                <a:latin typeface="Times New Roman" panose="02020603050405020304" pitchFamily="18" charset="0"/>
                <a:cs typeface="Times New Roman" panose="02020603050405020304" pitchFamily="18" charset="0"/>
              </a:rPr>
              <a:t>Attributes in the Dataset</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Review Text:</a:t>
            </a:r>
            <a:r>
              <a:rPr lang="en-US" dirty="0">
                <a:latin typeface="Times New Roman" panose="02020603050405020304" pitchFamily="18" charset="0"/>
                <a:cs typeface="Times New Roman" panose="02020603050405020304" pitchFamily="18" charset="0"/>
              </a:rPr>
              <a:t> Customer comments about the product</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Rating:</a:t>
            </a:r>
            <a:r>
              <a:rPr lang="en-US" dirty="0">
                <a:latin typeface="Times New Roman" panose="02020603050405020304" pitchFamily="18" charset="0"/>
                <a:cs typeface="Times New Roman" panose="02020603050405020304" pitchFamily="18" charset="0"/>
              </a:rPr>
              <a:t> Star rating given by the customer (1 to 5)</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Product Name / Product ID:</a:t>
            </a:r>
            <a:r>
              <a:rPr lang="en-US" dirty="0">
                <a:latin typeface="Times New Roman" panose="02020603050405020304" pitchFamily="18" charset="0"/>
                <a:cs typeface="Times New Roman" panose="02020603050405020304" pitchFamily="18" charset="0"/>
              </a:rPr>
              <a:t> Product identification</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Reviewer ID:</a:t>
            </a:r>
            <a:r>
              <a:rPr lang="en-US" dirty="0">
                <a:latin typeface="Times New Roman" panose="02020603050405020304" pitchFamily="18" charset="0"/>
                <a:cs typeface="Times New Roman" panose="02020603050405020304" pitchFamily="18" charset="0"/>
              </a:rPr>
              <a:t> Unique user identifier</a:t>
            </a:r>
          </a:p>
          <a:p>
            <a:pPr marL="342900" indent="-342900" algn="l">
              <a:buFont typeface="Arial" pitchFamily="34" charset="0"/>
              <a:buChar char="•"/>
            </a:pPr>
            <a:r>
              <a:rPr lang="en-US" b="1" dirty="0">
                <a:latin typeface="Times New Roman" panose="02020603050405020304" pitchFamily="18" charset="0"/>
                <a:cs typeface="Times New Roman" panose="02020603050405020304" pitchFamily="18" charset="0"/>
              </a:rPr>
              <a:t>Review Date:</a:t>
            </a:r>
            <a:r>
              <a:rPr lang="en-US" dirty="0">
                <a:latin typeface="Times New Roman" panose="02020603050405020304" pitchFamily="18" charset="0"/>
                <a:cs typeface="Times New Roman" panose="02020603050405020304" pitchFamily="18" charset="0"/>
              </a:rPr>
              <a:t> Date of the review</a:t>
            </a:r>
          </a:p>
          <a:p>
            <a:endParaRPr lang="en-US" dirty="0"/>
          </a:p>
        </p:txBody>
      </p:sp>
    </p:spTree>
    <p:extLst>
      <p:ext uri="{BB962C8B-B14F-4D97-AF65-F5344CB8AC3E}">
        <p14:creationId xmlns:p14="http://schemas.microsoft.com/office/powerpoint/2010/main" val="1416354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457200" y="152400"/>
            <a:ext cx="8382000" cy="5943600"/>
          </a:xfrm>
        </p:spPr>
        <p:txBody>
          <a:bodyPr>
            <a:normAutofit fontScale="25000" lnSpcReduction="20000"/>
          </a:bodyPr>
          <a:lstStyle/>
          <a:p>
            <a:r>
              <a:rPr lang="en-US" sz="11200" b="1" dirty="0">
                <a:latin typeface="Times New Roman" panose="02020603050405020304" pitchFamily="18" charset="0"/>
                <a:cs typeface="Times New Roman" panose="02020603050405020304" pitchFamily="18" charset="0"/>
              </a:rPr>
              <a:t>Data Collection</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Customer review data is collected from online platforms such as </a:t>
            </a:r>
            <a:r>
              <a:rPr lang="en-US" sz="9600" b="1" dirty="0">
                <a:latin typeface="Times New Roman" panose="02020603050405020304" pitchFamily="18" charset="0"/>
                <a:cs typeface="Times New Roman" panose="02020603050405020304" pitchFamily="18" charset="0"/>
              </a:rPr>
              <a:t>Amazon, </a:t>
            </a:r>
            <a:r>
              <a:rPr lang="en-US" sz="9600" b="1" dirty="0" err="1">
                <a:latin typeface="Times New Roman" panose="02020603050405020304" pitchFamily="18" charset="0"/>
                <a:cs typeface="Times New Roman" panose="02020603050405020304" pitchFamily="18" charset="0"/>
              </a:rPr>
              <a:t>Flipkart</a:t>
            </a:r>
            <a:r>
              <a:rPr lang="en-US" sz="9600" b="1" dirty="0">
                <a:latin typeface="Times New Roman" panose="02020603050405020304" pitchFamily="18" charset="0"/>
                <a:cs typeface="Times New Roman" panose="02020603050405020304" pitchFamily="18" charset="0"/>
              </a:rPr>
              <a:t>, or </a:t>
            </a:r>
            <a:r>
              <a:rPr lang="en-US" sz="9600" b="1" dirty="0" err="1">
                <a:latin typeface="Times New Roman" panose="02020603050405020304" pitchFamily="18" charset="0"/>
                <a:cs typeface="Times New Roman" panose="02020603050405020304" pitchFamily="18" charset="0"/>
              </a:rPr>
              <a:t>Kaggle</a:t>
            </a:r>
            <a:r>
              <a:rPr lang="en-US" sz="9600" b="1" dirty="0">
                <a:latin typeface="Times New Roman" panose="02020603050405020304" pitchFamily="18" charset="0"/>
                <a:cs typeface="Times New Roman" panose="02020603050405020304" pitchFamily="18" charset="0"/>
              </a:rPr>
              <a:t> datasets</a:t>
            </a:r>
            <a:r>
              <a:rPr lang="en-US" sz="9600" dirty="0">
                <a:latin typeface="Times New Roman" panose="02020603050405020304" pitchFamily="18" charset="0"/>
                <a:cs typeface="Times New Roman" panose="02020603050405020304" pitchFamily="18" charset="0"/>
              </a:rPr>
              <a:t>. The data includes review text, ratings, and product information.</a:t>
            </a:r>
          </a:p>
          <a:p>
            <a:pPr marL="342900" indent="-342900" algn="l">
              <a:lnSpc>
                <a:spcPct val="120000"/>
              </a:lnSpc>
              <a:buFont typeface="Arial" pitchFamily="34" charset="0"/>
              <a:buChar char="•"/>
            </a:pPr>
            <a:endParaRPr lang="en-US" sz="9600" dirty="0">
              <a:latin typeface="Times New Roman" panose="02020603050405020304" pitchFamily="18" charset="0"/>
              <a:cs typeface="Times New Roman" panose="02020603050405020304" pitchFamily="18" charset="0"/>
            </a:endParaRPr>
          </a:p>
          <a:p>
            <a:pPr algn="l">
              <a:lnSpc>
                <a:spcPct val="120000"/>
              </a:lnSpc>
            </a:pPr>
            <a:r>
              <a:rPr lang="en-US" sz="9600" b="1" dirty="0">
                <a:latin typeface="Times New Roman" panose="02020603050405020304" pitchFamily="18" charset="0"/>
                <a:cs typeface="Times New Roman" panose="02020603050405020304" pitchFamily="18" charset="0"/>
              </a:rPr>
              <a:t> Data Storage</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The collected data is stored in </a:t>
            </a:r>
            <a:r>
              <a:rPr lang="en-US" sz="9600" b="1" dirty="0">
                <a:latin typeface="Times New Roman" panose="02020603050405020304" pitchFamily="18" charset="0"/>
                <a:cs typeface="Times New Roman" panose="02020603050405020304" pitchFamily="18" charset="0"/>
              </a:rPr>
              <a:t>CSV or Excel format</a:t>
            </a:r>
            <a:r>
              <a:rPr lang="en-US" sz="9600" dirty="0">
                <a:latin typeface="Times New Roman" panose="02020603050405020304" pitchFamily="18" charset="0"/>
                <a:cs typeface="Times New Roman" panose="02020603050405020304" pitchFamily="18" charset="0"/>
              </a:rPr>
              <a:t> for easy access and processing.</a:t>
            </a:r>
          </a:p>
          <a:p>
            <a:pPr algn="l">
              <a:lnSpc>
                <a:spcPct val="120000"/>
              </a:lnSpc>
            </a:pPr>
            <a:r>
              <a:rPr lang="en-US" sz="9600" b="1" dirty="0">
                <a:latin typeface="Times New Roman" panose="02020603050405020304" pitchFamily="18" charset="0"/>
                <a:cs typeface="Times New Roman" panose="02020603050405020304" pitchFamily="18" charset="0"/>
              </a:rPr>
              <a:t>Data Cleaning and Preprocessing</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Since reviews are unstructured, preprocessing is essential:</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Removal of duplicate reviews</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Handling missing values</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Removing stop words, punctuation, and special characters</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Converting text to lowercase</a:t>
            </a:r>
          </a:p>
          <a:p>
            <a:pPr marL="342900" indent="-342900" algn="l">
              <a:lnSpc>
                <a:spcPct val="120000"/>
              </a:lnSpc>
              <a:buFont typeface="Arial" pitchFamily="34" charset="0"/>
              <a:buChar char="•"/>
            </a:pPr>
            <a:r>
              <a:rPr lang="en-US" sz="9600" dirty="0">
                <a:latin typeface="Times New Roman" panose="02020603050405020304" pitchFamily="18" charset="0"/>
                <a:cs typeface="Times New Roman" panose="02020603050405020304" pitchFamily="18" charset="0"/>
              </a:rPr>
              <a:t>This step improves data quality</a:t>
            </a:r>
            <a:r>
              <a:rPr lang="en-US" sz="5100" dirty="0">
                <a:latin typeface="Times New Roman" panose="02020603050405020304" pitchFamily="18" charset="0"/>
                <a:cs typeface="Times New Roman" panose="02020603050405020304" pitchFamily="18" charset="0"/>
              </a:rPr>
              <a:t>.</a:t>
            </a:r>
          </a:p>
          <a:p>
            <a:pPr marL="342900" indent="-342900">
              <a:lnSpc>
                <a:spcPct val="120000"/>
              </a:lnSpc>
              <a:buFont typeface="Arial" pitchFamily="34" charset="0"/>
              <a:buChar char="•"/>
            </a:pPr>
            <a:endParaRPr lang="en-US" dirty="0"/>
          </a:p>
          <a:p>
            <a:endParaRPr lang="en-US" dirty="0"/>
          </a:p>
        </p:txBody>
      </p:sp>
    </p:spTree>
    <p:extLst>
      <p:ext uri="{BB962C8B-B14F-4D97-AF65-F5344CB8AC3E}">
        <p14:creationId xmlns:p14="http://schemas.microsoft.com/office/powerpoint/2010/main" val="1126171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143000" y="304800"/>
            <a:ext cx="5410200" cy="1219200"/>
          </a:xfrm>
        </p:spPr>
        <p:txBody>
          <a:bodyPr/>
          <a:lstStyle/>
          <a:p>
            <a:pPr algn="ctr"/>
            <a:r>
              <a:rPr lang="en-US" sz="3600" b="1" dirty="0">
                <a:latin typeface="Times New Roman" panose="02020603050405020304" pitchFamily="18" charset="0"/>
                <a:cs typeface="Times New Roman" panose="02020603050405020304" pitchFamily="18" charset="0"/>
              </a:rPr>
              <a:t>Dashboard Design </a:t>
            </a:r>
          </a:p>
        </p:txBody>
      </p:sp>
      <p:sp>
        <p:nvSpPr>
          <p:cNvPr id="2" name="Subtitle 1"/>
          <p:cNvSpPr>
            <a:spLocks noGrp="1"/>
          </p:cNvSpPr>
          <p:nvPr>
            <p:ph type="subTitle" idx="1"/>
          </p:nvPr>
        </p:nvSpPr>
        <p:spPr>
          <a:xfrm>
            <a:off x="533400" y="1828800"/>
            <a:ext cx="8382000" cy="4724400"/>
          </a:xfrm>
        </p:spPr>
        <p:txBody>
          <a:bodyPr>
            <a:normAutofit/>
          </a:bodyPr>
          <a:lstStyle/>
          <a:p>
            <a:r>
              <a:rPr lang="en-US" sz="2400" dirty="0">
                <a:latin typeface="Times New Roman" panose="02020603050405020304" pitchFamily="18" charset="0"/>
                <a:cs typeface="Times New Roman" panose="02020603050405020304" pitchFamily="18" charset="0"/>
              </a:rPr>
              <a:t>Online Product Review Analysis Designed an interactive dashboard using Power BI is played key metrics such as total reviews, average rating, and sentiment distribution Used visualizations like bar charts, pie charts, and line graphs to show rating trends and sentiment analysis Included filters for product category, rating, and review date for better analysis The dashboard provides quick insights into customer satisfaction and product performance</a:t>
            </a:r>
          </a:p>
        </p:txBody>
      </p:sp>
    </p:spTree>
    <p:extLst>
      <p:ext uri="{BB962C8B-B14F-4D97-AF65-F5344CB8AC3E}">
        <p14:creationId xmlns:p14="http://schemas.microsoft.com/office/powerpoint/2010/main" val="728747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33324-1025-DF3A-0375-2782ED74A78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SCREENSHOTS OF DASHBOARD</a:t>
            </a:r>
            <a:endParaRPr lang="en-IN"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56105300-576F-53EE-42E0-17FC2ECE5602}"/>
              </a:ext>
            </a:extLst>
          </p:cNvPr>
          <p:cNvPicPr>
            <a:picLocks noGrp="1" noChangeAspect="1"/>
          </p:cNvPicPr>
          <p:nvPr>
            <p:ph idx="1"/>
          </p:nvPr>
        </p:nvPicPr>
        <p:blipFill>
          <a:blip r:embed="rId2"/>
          <a:stretch>
            <a:fillRect/>
          </a:stretch>
        </p:blipFill>
        <p:spPr>
          <a:xfrm>
            <a:off x="744374" y="1825625"/>
            <a:ext cx="7655251" cy="4351338"/>
          </a:xfrm>
          <a:prstGeom prst="rect">
            <a:avLst/>
          </a:prstGeom>
        </p:spPr>
      </p:pic>
    </p:spTree>
    <p:extLst>
      <p:ext uri="{BB962C8B-B14F-4D97-AF65-F5344CB8AC3E}">
        <p14:creationId xmlns:p14="http://schemas.microsoft.com/office/powerpoint/2010/main" val="2792195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25DD626A-ED17-4361-FA10-ACB98F3FB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041" y="475059"/>
            <a:ext cx="7453918" cy="5907882"/>
          </a:xfrm>
          <a:prstGeom prst="rect">
            <a:avLst/>
          </a:prstGeom>
        </p:spPr>
      </p:pic>
    </p:spTree>
    <p:extLst>
      <p:ext uri="{BB962C8B-B14F-4D97-AF65-F5344CB8AC3E}">
        <p14:creationId xmlns:p14="http://schemas.microsoft.com/office/powerpoint/2010/main" val="4216168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1ABBB3-EA27-BC22-2CED-9AFF04DBF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555061"/>
            <a:ext cx="8610600" cy="5747878"/>
          </a:xfrm>
          <a:prstGeom prst="rect">
            <a:avLst/>
          </a:prstGeom>
        </p:spPr>
      </p:pic>
    </p:spTree>
    <p:extLst>
      <p:ext uri="{BB962C8B-B14F-4D97-AF65-F5344CB8AC3E}">
        <p14:creationId xmlns:p14="http://schemas.microsoft.com/office/powerpoint/2010/main" val="2733866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0DF752-8B00-FCFE-804C-755DB90A8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524117"/>
            <a:ext cx="8763000" cy="5809766"/>
          </a:xfrm>
          <a:prstGeom prst="rect">
            <a:avLst/>
          </a:prstGeom>
        </p:spPr>
      </p:pic>
    </p:spTree>
    <p:extLst>
      <p:ext uri="{BB962C8B-B14F-4D97-AF65-F5344CB8AC3E}">
        <p14:creationId xmlns:p14="http://schemas.microsoft.com/office/powerpoint/2010/main" val="980929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B55782-0DF9-31BB-FE95-E6D110094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034295"/>
            <a:ext cx="8686800" cy="4789410"/>
          </a:xfrm>
          <a:prstGeom prst="rect">
            <a:avLst/>
          </a:prstGeom>
        </p:spPr>
      </p:pic>
      <p:pic>
        <p:nvPicPr>
          <p:cNvPr id="4" name="Picture 3">
            <a:extLst>
              <a:ext uri="{FF2B5EF4-FFF2-40B4-BE49-F238E27FC236}">
                <a16:creationId xmlns:a16="http://schemas.microsoft.com/office/drawing/2014/main" id="{DC80C194-3B19-F2C7-1B2F-C7DA54BE92AB}"/>
              </a:ext>
            </a:extLst>
          </p:cNvPr>
          <p:cNvPicPr>
            <a:picLocks noChangeAspect="1"/>
          </p:cNvPicPr>
          <p:nvPr/>
        </p:nvPicPr>
        <p:blipFill>
          <a:blip r:embed="rId3"/>
          <a:stretch>
            <a:fillRect/>
          </a:stretch>
        </p:blipFill>
        <p:spPr>
          <a:xfrm>
            <a:off x="0" y="766528"/>
            <a:ext cx="9067800" cy="5324944"/>
          </a:xfrm>
          <a:prstGeom prst="rect">
            <a:avLst/>
          </a:prstGeom>
        </p:spPr>
      </p:pic>
    </p:spTree>
    <p:extLst>
      <p:ext uri="{BB962C8B-B14F-4D97-AF65-F5344CB8AC3E}">
        <p14:creationId xmlns:p14="http://schemas.microsoft.com/office/powerpoint/2010/main" val="683101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533400"/>
            <a:ext cx="6019800" cy="838200"/>
          </a:xfrm>
        </p:spPr>
        <p:txBody>
          <a:bodyPr/>
          <a:lstStyle/>
          <a:p>
            <a:pPr algn="ctr"/>
            <a:r>
              <a:rPr lang="en-US" sz="3600" b="1" dirty="0">
                <a:latin typeface="Times New Roman" panose="02020603050405020304" pitchFamily="18" charset="0"/>
                <a:cs typeface="Times New Roman" panose="02020603050405020304" pitchFamily="18" charset="0"/>
              </a:rPr>
              <a:t>Finding</a:t>
            </a:r>
          </a:p>
        </p:txBody>
      </p:sp>
      <p:sp>
        <p:nvSpPr>
          <p:cNvPr id="2" name="Subtitle 1"/>
          <p:cNvSpPr>
            <a:spLocks noGrp="1"/>
          </p:cNvSpPr>
          <p:nvPr>
            <p:ph type="subTitle" idx="1"/>
          </p:nvPr>
        </p:nvSpPr>
        <p:spPr>
          <a:xfrm>
            <a:off x="685800" y="1752600"/>
            <a:ext cx="8153400" cy="4648200"/>
          </a:xfrm>
        </p:spPr>
        <p:txBody>
          <a:bodyPr>
            <a:normAutofit/>
          </a:bodyPr>
          <a:lstStyle/>
          <a:p>
            <a:r>
              <a:rPr lang="en-US" sz="2400" dirty="0">
                <a:latin typeface="Times New Roman" panose="02020603050405020304" pitchFamily="18" charset="0"/>
                <a:cs typeface="Times New Roman" panose="02020603050405020304" pitchFamily="18" charset="0"/>
              </a:rPr>
              <a:t> Online Product Review Analysis Majority of customer reviews are positive, indicating overall customer satisfaction Products with higher ratings generally show positive sentiment in review text Negative reviews mainly highlight issues related to product quality and delivery Sentiment analysis results align closely with customer star ratings The dashboard helps identify key areas for product improvement and customer experience enhancement</a:t>
            </a:r>
          </a:p>
        </p:txBody>
      </p:sp>
    </p:spTree>
    <p:extLst>
      <p:ext uri="{BB962C8B-B14F-4D97-AF65-F5344CB8AC3E}">
        <p14:creationId xmlns:p14="http://schemas.microsoft.com/office/powerpoint/2010/main" val="547511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123E-5145-C2A7-BEB8-66D19864C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89A42-5E68-14B7-79C4-BDABFCE72D16}"/>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INSIGHTS</a:t>
            </a:r>
            <a:endParaRPr lang="en-IN"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E0079C9-90BC-3192-55E2-F6DD03AB8A9D}"/>
              </a:ext>
            </a:extLst>
          </p:cNvPr>
          <p:cNvSpPr>
            <a:spLocks noGrp="1" noChangeArrowheads="1"/>
          </p:cNvSpPr>
          <p:nvPr>
            <p:ph idx="1"/>
          </p:nvPr>
        </p:nvSpPr>
        <p:spPr bwMode="auto">
          <a:xfrm>
            <a:off x="762000" y="1219200"/>
            <a:ext cx="7753350"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Majority of customer reviews show positive sentiment, indicating overall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Products with higher star ratings strongly align with positive review sentiment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Negative reviews mainly highlight issues related to product quality, delivery delays, and packaging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Neutral reviews often suggest scope for feature or service improvement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 analysis helps identify key customer concerns that are not visible from ratings alone</a:t>
            </a:r>
          </a:p>
          <a:p>
            <a:pPr defTabSz="914400" eaLnBrk="0" fontAlgn="base" hangingPunct="0">
              <a:lnSpc>
                <a:spcPct val="100000"/>
              </a:lnSpc>
              <a:spcBef>
                <a:spcPct val="0"/>
              </a:spcBef>
              <a:spcAft>
                <a:spcPct val="0"/>
              </a:spcAft>
            </a:pPr>
            <a:r>
              <a:rPr lang="en-US" dirty="0">
                <a:latin typeface="Times New Roman" panose="02020603050405020304" pitchFamily="18" charset="0"/>
                <a:cs typeface="Times New Roman" panose="02020603050405020304" pitchFamily="18" charset="0"/>
              </a:rPr>
              <a:t>Products with longer delivery times tend to receive lower ratings, and returned orders show higher delivery days, indicating delivery delays as a major factor in customer dissatisfaction.</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4313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381000"/>
            <a:ext cx="6400800" cy="1143000"/>
          </a:xfrm>
        </p:spPr>
        <p:txBody>
          <a:bodyPr/>
          <a:lstStyle/>
          <a:p>
            <a:pPr algn="ctr"/>
            <a:r>
              <a:rPr lang="en-US" sz="3600" dirty="0">
                <a:latin typeface="Times New Roman" panose="02020603050405020304" pitchFamily="18" charset="0"/>
                <a:cs typeface="Times New Roman" panose="02020603050405020304" pitchFamily="18" charset="0"/>
              </a:rPr>
              <a:t>References</a:t>
            </a:r>
          </a:p>
        </p:txBody>
      </p:sp>
      <p:sp>
        <p:nvSpPr>
          <p:cNvPr id="2" name="Subtitle 1"/>
          <p:cNvSpPr>
            <a:spLocks noGrp="1"/>
          </p:cNvSpPr>
          <p:nvPr>
            <p:ph type="subTitle" idx="1"/>
          </p:nvPr>
        </p:nvSpPr>
        <p:spPr>
          <a:xfrm>
            <a:off x="762000" y="1752600"/>
            <a:ext cx="6096000" cy="4419600"/>
          </a:xfrm>
        </p:spPr>
        <p:txBody>
          <a:bodyPr>
            <a:normAutofit/>
          </a:bodyPr>
          <a:lstStyle/>
          <a:p>
            <a:pPr marL="342900" indent="-342900" algn="l">
              <a:buFont typeface="Arial" pitchFamily="34" charset="0"/>
              <a:buChar char="•"/>
            </a:pPr>
            <a:r>
              <a:rPr lang="en-US" sz="2400" dirty="0" err="1">
                <a:latin typeface="Times New Roman" panose="02020603050405020304" pitchFamily="18" charset="0"/>
                <a:cs typeface="Times New Roman" panose="02020603050405020304" pitchFamily="18" charset="0"/>
              </a:rPr>
              <a:t>Kaggle</a:t>
            </a:r>
            <a:r>
              <a:rPr lang="en-US" sz="2400" dirty="0">
                <a:latin typeface="Times New Roman" panose="02020603050405020304" pitchFamily="18" charset="0"/>
                <a:cs typeface="Times New Roman" panose="02020603050405020304" pitchFamily="18" charset="0"/>
              </a:rPr>
              <a:t> – Online Product Review Datasets </a:t>
            </a:r>
            <a:r>
              <a:rPr lang="en-US" sz="2400" dirty="0" err="1">
                <a:latin typeface="Times New Roman" panose="02020603050405020304" pitchFamily="18" charset="0"/>
                <a:cs typeface="Times New Roman" panose="02020603050405020304" pitchFamily="18" charset="0"/>
              </a:rPr>
              <a:t>Kaggle</a:t>
            </a:r>
            <a:r>
              <a:rPr lang="en-US" sz="2400" dirty="0">
                <a:latin typeface="Times New Roman" panose="02020603050405020304" pitchFamily="18" charset="0"/>
                <a:cs typeface="Times New Roman" panose="02020603050405020304" pitchFamily="18" charset="0"/>
              </a:rPr>
              <a:t> is an online data science platform that provides free datasets, notebooks, and competitions. It is widely used by students and professionals for data analytics and machine learning projects.</a:t>
            </a:r>
          </a:p>
          <a:p>
            <a:pPr marL="342900" indent="-342900" algn="l">
              <a:buFont typeface="Arial" pitchFamily="34" charset="0"/>
              <a:buChar char="•"/>
            </a:pPr>
            <a:r>
              <a:rPr lang="en-US" sz="2400" dirty="0">
                <a:latin typeface="Times New Roman" panose="02020603050405020304" pitchFamily="18" charset="0"/>
                <a:cs typeface="Times New Roman" panose="02020603050405020304" pitchFamily="18" charset="0"/>
              </a:rPr>
              <a:t>Amazon &amp; Flipkart Customer Review Samples Python Documentation (Pandas, NumPy)</a:t>
            </a:r>
          </a:p>
          <a:p>
            <a:pPr marL="342900" indent="-342900" algn="l">
              <a:buFont typeface="Arial" pitchFamily="34" charset="0"/>
              <a:buChar char="•"/>
            </a:pPr>
            <a:r>
              <a:rPr lang="en-US" sz="2400" dirty="0" err="1">
                <a:latin typeface="Times New Roman" panose="02020603050405020304" pitchFamily="18" charset="0"/>
                <a:cs typeface="Times New Roman" panose="02020603050405020304" pitchFamily="18" charset="0"/>
              </a:rPr>
              <a:t>Textblob</a:t>
            </a:r>
            <a:r>
              <a:rPr lang="en-US" sz="2400" dirty="0">
                <a:latin typeface="Times New Roman" panose="02020603050405020304" pitchFamily="18" charset="0"/>
                <a:cs typeface="Times New Roman" panose="02020603050405020304" pitchFamily="18" charset="0"/>
              </a:rPr>
              <a:t> / NLTK Documentation for Sentiment Analysis Microsoft Power BI Official Documentation</a:t>
            </a:r>
          </a:p>
          <a:p>
            <a:endParaRPr lang="en-US" sz="2400" dirty="0"/>
          </a:p>
        </p:txBody>
      </p:sp>
    </p:spTree>
    <p:extLst>
      <p:ext uri="{BB962C8B-B14F-4D97-AF65-F5344CB8AC3E}">
        <p14:creationId xmlns:p14="http://schemas.microsoft.com/office/powerpoint/2010/main" val="119298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288</TotalTime>
  <Words>1007</Words>
  <Application>Microsoft Office PowerPoint</Application>
  <PresentationFormat>On-screen Show (4:3)</PresentationFormat>
  <Paragraphs>74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PowerPoint Presentation</vt:lpstr>
      <vt:lpstr>ONLINE PRODUCT REVIEW ANALYSIS</vt:lpstr>
      <vt:lpstr>PROBLEM STATEMENT</vt:lpstr>
      <vt:lpstr>Objectives</vt:lpstr>
      <vt:lpstr>PowerPoint Presentation</vt:lpstr>
      <vt:lpstr>Tools Used</vt:lpstr>
      <vt:lpstr>PowerPoint Presentation</vt:lpstr>
      <vt:lpstr>Dataset Description </vt:lpstr>
      <vt:lpstr>PowerPoint Presentation</vt:lpstr>
      <vt:lpstr>PowerPoint Presentation</vt:lpstr>
      <vt:lpstr>Dashboard Design </vt:lpstr>
      <vt:lpstr>SCREENSHOTS OF DASHBOARD</vt:lpstr>
      <vt:lpstr>PowerPoint Presentation</vt:lpstr>
      <vt:lpstr>PowerPoint Presentation</vt:lpstr>
      <vt:lpstr>PowerPoint Presentation</vt:lpstr>
      <vt:lpstr>PowerPoint Presentation</vt:lpstr>
      <vt:lpstr>Finding</vt:lpstr>
      <vt:lpstr>INSIGHTS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PRODUCT REVIEW ANALYSIS</dc:title>
  <dc:creator>Admin</dc:creator>
  <cp:lastModifiedBy>dikshavs03@outlook.com</cp:lastModifiedBy>
  <cp:revision>25</cp:revision>
  <dcterms:created xsi:type="dcterms:W3CDTF">2026-01-25T10:14:37Z</dcterms:created>
  <dcterms:modified xsi:type="dcterms:W3CDTF">2026-01-29T04:15:43Z</dcterms:modified>
</cp:coreProperties>
</file>